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097280"/>
            <a:ext cx="4206240" cy="329184"/>
          </a:xfrm>
          <a:prstGeom prst="roundRect">
            <a:avLst>
              <a:gd name="adj" fmla="val 50000"/>
            </a:avLst>
          </a:prstGeom>
          <a:solidFill>
            <a:srgbClr val="131E2E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247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ADHD-200 CONSORTIUM BENCHMARK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NeuroADHD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Modeling &amp; Connectomic Analysis of Attention Deficit Hyperactivity Disorder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End-to-End Computational Investigation across 935 Children from 9 International Clinics: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Machine Learning Algorithms · Ethical Fairness &amp; Site Auditing · SHAP Explainability · Nilearn fMRI Connectomes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935 Children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443484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Clinical Sites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443484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ML Algorithms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443484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5-Fold Stratified CV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63840" y="443484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Feature Attribution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46920" y="4434840"/>
            <a:ext cx="1691640" cy="384048"/>
          </a:xfrm>
          <a:prstGeom prst="roundRect">
            <a:avLst>
              <a:gd name="adj" fmla="val 2381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46920" y="44805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 rs-fMRI Scans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Benchmark Results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Children in Cohort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Harmonized across 9 international clinics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4630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2172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600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38912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Architectures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8912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Tree, linear, SVM &amp; stacking ensembles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21726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1600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04672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 ROC-AUC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2697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Demographics + Cognitive IQ only (No survey)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7490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2172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0.96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B ROC-AUC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Augmented with parent symptom ratings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37490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2172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3891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fMRI Scans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4983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Resting-state BOLD timeseries via Nilearn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3749040"/>
            <a:ext cx="3383280" cy="2011680"/>
          </a:xfrm>
          <a:prstGeom prst="roundRect">
            <a:avLst>
              <a:gd name="adj" fmla="val 6818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p=0.11</a:t>
            </a:r>
            <a:endParaRPr lang="en-US" sz="3800" dirty="0"/>
          </a:p>
        </p:txBody>
      </p:sp>
      <p:sp>
        <p:nvSpPr>
          <p:cNvPr id="29" name="Text 27"/>
          <p:cNvSpPr/>
          <p:nvPr/>
        </p:nvSpPr>
        <p:spPr>
          <a:xfrm>
            <a:off x="8046720" y="4617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Permutation Test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46720" y="4983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Connectome classifiers not above chance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ADHD Diagnosis Needs Computational Rigor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· High Global Burden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ADHD impacts 5% to 7% of children worldwide, impairing executive function, academic attainment, and emotional regulation.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· Subjective &amp; Delayed Diagnosis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assessments rely on parent/teacher interviews and clinician variance. Waitlists exceed 12–18 months in community healthcare.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886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· Masking &amp; The Under-Diagnosed Gender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206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High-IQ children and females frequently mask overt hyperactivity, exhibiting subtle inattention and suffering from systemic delayed diagnosis.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89204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29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· Multi-Center Site Selection Bias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5349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Consortium datasets exhibit massive clinic prevalence shifts (0% to 58%), causing naive AI models to memorize hospital names instead of disease biology.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SCOPE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Exactly Was Built &amp; Delivered in this Benchmark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Ingestion &amp; Harmonization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385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Harmonized 10 clinical centers, pruned 101 duplicate records, normalized Conners &amp; ADHD-RS to [0,1], and addressed sentinel missing values.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Rigor &amp; Auditing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193852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Evaluated Cohen's d effect sizes, Welch's t-tests, Mann-Whitney U, and VIFs across demographic and cognitive markers.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13-Model Machine Learning Zoo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472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Trained and tuned 13 ML models via 5-fold CV, randomized search, voting/stacking ensembles, and Youden thresholding.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97180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Fairness &amp; Confounder Auditing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44728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Conducted Leave-One-Site-Out (LOSO) checks, audited 0.70 site confounder, and uncovered an ethical gender sensitivity disparity.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48056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Explainability &amp; Artifact Hunt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9560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Decomposed black-box decisions with SHAP beeswarm/force plots, uncovering and fixing the NYU handedness recording artifact.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0" y="4480560"/>
            <a:ext cx="5212080" cy="1325880"/>
          </a:xfrm>
          <a:prstGeom prst="roundRect">
            <a:avLst>
              <a:gd name="adj" fmla="val 827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617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Connectomics &amp; Production App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956048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Extracted fMRI connectomes with Nilearn (MSDL &amp; BASC) and built an interactive 3D WebGL web app with live in-browser inference.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1: ETL PIPELINE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Multi-Center Clinical Data Harmonization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Actions Performed: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Ingested 10 clinical centers from the ADHD-200 S3 bucket.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Identified and excised 101 duplicate participant records.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Handled missing codes (-999, N/A) properly into NaN values.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Harmonized rating scales: mapped Conners' (40–100) and ADHD-RS IV (18–72) to uniform [0, 1] severity scale.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Unified handedness codings into true dominant hand.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Quarantined Brown University (n=26) for zero-shot testing.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1_raw_column_co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2: EXPLORATORY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Findings &amp; Cohen's d Effect Sizes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 Insights (n = 935):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Sex Disparity: Boys diagnosed 2.2x more than girls (49% vs 22%).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Cognitive Differences: WISC IQ scores were lower in ADHD but with massive overlap (Cohen's d = -0.47 to -0.56).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Dominance of Parent Ratings: ADHD-RS symptom scores show colossal separation (Cohen's d = 2.87, p &lt; 1e-100).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Site Asymmetry: Prevalence ranged from 0% (WashU) to 58% (NYU), proving clinic identity is a major confounder.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PCA / t-SNE: Showed no distinct cluster separation without symptoms.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2_effect_siz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3: PREPROCESSING PIPELINE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Evidence-Based Engineering &amp; Feature Selection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Architecture: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Stratified 80/20 Split: Locked 20% holdout (n=187 for Set A; n=98 for Set B) untouched until final evaluation.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Imputation Benchmark: Mean, Median, KNN, and Iterative gave identical AUCs; median was chosen for simplicity.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Class Imbalance Mitigation: Class-weighted loss raised minority catch rate (sensitivity) from 49% to 67%.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Non-Linear Features: Engineered Verbal-Performance IQ Discrepancy and quadratic Age curve (Age - 12)^2.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Consensus Feature Selection: RFECV and L1 Lasso confirmed parent symptom ratings outrank all other features.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3_imbalanc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4: MODEL ZOO EVALUATION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Benchmarking 13 Machine Learning Architectures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Rigorous 5-Fold Cross Validation: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13 Architectures Evaluated: Logistic Regression, LDA, Gaussian NB, KNN, Random Forest, Extra Trees, GBDT, XGBoost, LightGBM, AdaBoost, RBF SVM, Voting, and Stacking.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Hyperparameter Tuning: Optimized using RandomizedSearchCV with 50 iterations.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Youden Thresholding: Adjusted classification cutoffs to maximize Sensitivity + Specificity.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Dual Paradigm Evaluated: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Set A: Demographics &amp; IQ only (Top: Random Forest)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Set B: Augmented with Parent Ratings (Top: Logistic Reg)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4_model_comparison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5: TEST SET GENERALIZATION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Evaluation on Locked Holdout (1,000 Bootstraps)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A: Demographics &amp; IQ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 (Tuned)  ✦  n = 187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0.730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ROC-AUC  (95% CI: 0.655 – 0.800)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05840" y="32918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Accuracy: 64.7%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Balanced Accuracy: 64.6%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Sensitivity (Catch Rate): 63.9%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Specificity (Clear Rate): 65.2%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Precision / PPV: 53.5%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Takeaway: Cognitive &amp; demographic features establish an upper ceiling of ~0.73 AUC.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512064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B: With Parent Symptom Ratings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 (Tuned)  ✦  n = 98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0.955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92240" y="29718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973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ROC-AUC  (95% CI: 0.906 – 0.988)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91840"/>
            <a:ext cx="4572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Accuracy: 88.8%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Balanced Accuracy: 88.7%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Sensitivity (Catch Rate): 94.0%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Specificity (Clear Rate): 83.3%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Precision / PPV: 85.5%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Takeaway: Symptom questionnaires almost determine the diagnostic label (automated screening).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6: ALGORITHMIC FAIRNESS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Uncovering Severe Gender Disparities in Set 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Gender Sensitivity Gap: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 Set A (Demographics only):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Sensitivity for Boys: 75.0% (Caught 42 of 56)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Sensitivity for Girls: 25.0% (Missed 12 of 16!)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Why? The algorithm learned that 'male' is a strong statistical clue, mirroring historical referral bias.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Result: Girls with high IQ or subtle inattention were systematically misclassified as typically developing.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in Set B: Adding parent symptom questionnaires lifted female sensitivity to 100.0%!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4_confusion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7: CONFOUNDER AUDITING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 Confounder Discovery &amp; Leave-One-Site-Out (LOSO)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Confounder Findings: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Site Shortcut: A model given ONLY the clinic ID reaches 0.7025 AUC due to sample selection bias.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Strict Exclusion: Site ID was deliberately excluded from features to prevent learning center-specific shortcuts.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Leave-One-Site-Out (LOSO) Validation: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Iteratively trained on N-1 clinics, tested on the Nth clinic.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Performance swings from 0.56 AUC (KKI) to 0.86 AUC (Peking).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- Proves models cannot be deployed blindly across clinics without local re-calibration.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4_leave_one_site_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8: MODEL EXPLAINABILITY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Feature Attributions &amp; The Handedness Glitch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NYU Handedness Mystery: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SHAP Beeswarm Discovery: During initial runs, Handedness ranked as the 2nd most important feature in Set 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Clinical Investigation: Left-handedness had no biological rationale for driving ADHD predictions.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Root Cause: NYU (58% ADHD prevalence) recorded handedness as continuous Edinburgh scores; others used binary tags.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The Fix: Re-harmonized all sites to true dominant hand -&gt; Handedness attribution collapsed to zero!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Value: Proved that explainable AI is vital to catch hidden data-collection artifacts.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5_shap_beeswarm_S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9: NEUROIMAGING ANALYSIS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Resting-State fMRI Brain Connectomes via Nilearn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5029200" cy="4572000"/>
          </a:xfrm>
          <a:prstGeom prst="roundRect">
            <a:avLst>
              <a:gd name="adj" fmla="val 3000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Connectome Pipeline (n = 40):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Brain Atlases: MSDL (39 functional regions) &amp; BASC-64 (64 anatomical regions).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Connectivity Types: Correlation, Partial Correlation, and Riemannian Tangent Space.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42 Configurations Tested across 7 classifiers.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Best Model: PCA + RBF SVM on MSDL correlation matrix reached Accuracy: 56.2%, ROC-AUC: 0.63.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500-Iteration Label Permutation Test: p = 0.11 (Null mean = 51.2%).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Scientific Takeaway: With n=40, rs-fMRI connectomes do NOT significantly beat random guessing.</a:t>
            </a:r>
            <a:endParaRPr lang="en-US" sz="1200" dirty="0"/>
          </a:p>
        </p:txBody>
      </p:sp>
      <p:pic>
        <p:nvPicPr>
          <p:cNvPr id="10" name="Image 0" descr="C:\Users\hariv\OneDrive\Desktop\NeuroADHD\website\assets\img\06_connect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463040"/>
            <a:ext cx="5303520" cy="4572000"/>
          </a:xfrm>
          <a:prstGeom prst="ellipse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10: PRODUCTION DEPLOYMENT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3D Web Application &amp; Client-Side Inference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5727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Brain Connectome (Three.js)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WebGL canvas with 48 cortical hubs, axonal tracts, and pulsing synaptic BOLD signals that follow cursor movement.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487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Multi-Metric Algorithm Explorer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614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Chart.js dashboard allowing real-time switching between ROC-AUC, Balanced Accuracy, F1-Score, Sensitivity, and Precision.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4015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In-Browser Clinical Predictor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6758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Executes real-time logistic regression inference in the browser with 5 clinical presets (Control, Combined, Inattentive, High-IQ, Reset).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3159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SHAP Waterfall Bars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5902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log-odds attribution chart showing exact positive (ADHD) and negative (TD) contributions with sign tags.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230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Backend Infrastructure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5046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Packaged as a static web bundle with 100% client-side execution, offline caching, and zero cloud server dependencies.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2926080" cy="256032"/>
          </a:xfrm>
          <a:prstGeom prst="roundRect">
            <a:avLst>
              <a:gd name="adj" fmla="val 50000"/>
            </a:avLst>
          </a:prstGeom>
          <a:solidFill>
            <a:srgbClr val="16223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84048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1323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Scientific Insights &amp;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261872"/>
            <a:ext cx="1645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261872"/>
            <a:ext cx="10972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630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1572768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Phenotypic Limit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45920" y="18470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 and cognitive scores establish an upper diagnostic bound of 0.73 AUC. They cannot serve as standalone biomarkers.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487168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Screening Utility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7614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Standardized parent symptom surveys achieve 0.96 AUC with 94% sensitivity, serving as automated screening rather than an etiological test.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429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3401568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Gender Fairness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36758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Demographic-only models discriminate against girls (25% catch rate). Incorporating symptom surveys fully restores sensitivity to 100%.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343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315968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Explainability is Essential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5920" y="45902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SHAP was critical to catch the NYU handedness recording artifact, proving that black-box medical ML is unsafe without attribution.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1520" y="5120640"/>
            <a:ext cx="10698480" cy="804672"/>
          </a:xfrm>
          <a:prstGeom prst="roundRect">
            <a:avLst>
              <a:gd name="adj" fmla="val 13636"/>
            </a:avLst>
          </a:prstGeom>
          <a:solidFill>
            <a:srgbClr val="121726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257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5230368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fMRI Sample Size Challenge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504688"/>
            <a:ext cx="9418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rs-fMRI connectomics in small cohorts (n=40) fail to beat chance (p=0.11), demonstrating that large cohorts (n&gt;2,000) are required.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11680" y="3108960"/>
            <a:ext cx="292608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0" y="3108960"/>
            <a:ext cx="320040" cy="-82296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2286000"/>
            <a:ext cx="411480" cy="1371600"/>
          </a:xfrm>
          <a:prstGeom prst="line">
            <a:avLst/>
          </a:prstGeom>
          <a:noFill/>
          <a:ln w="381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0" y="3657600"/>
            <a:ext cx="320040" cy="-54864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89320" y="3108960"/>
            <a:ext cx="4114800" cy="0"/>
          </a:xfrm>
          <a:prstGeom prst="line">
            <a:avLst/>
          </a:prstGeom>
          <a:noFill/>
          <a:ln w="3175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1148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Open Discussion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NeuroADHD Multi-Center Clinical Benchmark Study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NeuroADHD: Predictive Modeling &amp; Connectomics</dc:title>
  <dc:subject>PptxGenJS Presentation</dc:subject>
  <dc:creator>PptxGenJS</dc:creator>
  <cp:lastModifiedBy>PptxGenJS</cp:lastModifiedBy>
  <cp:revision>1</cp:revision>
  <dcterms:created xsi:type="dcterms:W3CDTF">2026-10-26T14:45:08Z</dcterms:created>
  <dcterms:modified xsi:type="dcterms:W3CDTF">2026-10-26T14:45:08Z</dcterms:modified>
</cp:coreProperties>
</file>