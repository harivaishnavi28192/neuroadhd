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4389120" cy="411480"/>
          </a:xfrm>
          <a:prstGeom prst="rect">
            <a:avLst>
              <a:gd name="adj" fmla="val 44444"/>
            </a:avLst>
          </a:prstGeom>
          <a:solidFill>
            <a:srgbClr val="1E293B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14300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ADHD-200 CONSORTIUM BENCHMARK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NEUROADHD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Predictive Modeling &amp; Connectomic Analysis of Attention Deficit Hyperactivity Disorder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3657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  ✦  SHAP Explainability  ✦  Resting-State fMRI Connectomes  ✦  Interactive Web App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663440"/>
            <a:ext cx="5669280" cy="1371600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4846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Presented by: Harivaishnavi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525780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Karunya Institute of Technology and Sciences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56235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Open-Source: https://harivaishnavi28192.github.io/NeuroADHD/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Project Milestones at a Glance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228600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645920"/>
            <a:ext cx="3383280" cy="2011680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8308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935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31520" y="26060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Children in Cohort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301752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international clinics harmonized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1645920"/>
            <a:ext cx="3383280" cy="2011680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0" y="178308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389120" y="26060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Algorithms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389120" y="301752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Tree, linear &amp; ensemble models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46720" y="1645920"/>
            <a:ext cx="3383280" cy="2011680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0" y="178308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0.73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8046720" y="26060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A ROC-AUC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046720" y="301752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Demographics + Cognitive IQ only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931920"/>
            <a:ext cx="3383280" cy="2011680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406908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0.96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731520" y="48920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B ROC-AUC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731520" y="530352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Augmented with parent surveys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89120" y="3931920"/>
            <a:ext cx="3383280" cy="2011680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9120" y="406908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4389120" y="48920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fMRI Scans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389120" y="530352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Resting-state BOLD timeseries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46720" y="3931920"/>
            <a:ext cx="3383280" cy="2011680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6720" y="406908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p=0.11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8046720" y="48920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Permutation Test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8046720" y="530352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Connectome not above chance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ADHD Diagnosis Needs Machine Learning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228600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645920"/>
            <a:ext cx="10698480" cy="1005840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7452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737360" y="1783080"/>
            <a:ext cx="941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Prevalence &amp; Life Impact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737360" y="2148840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ADHD affects 5–7% of children globally, impacting academic success, executive functioning, and emotional regulation.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2788920"/>
            <a:ext cx="10698480" cy="1005840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01752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737360" y="2926080"/>
            <a:ext cx="941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Subjective &amp; Delayed Evaluations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737360" y="3291840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Diagnosis relies on subjective parent/teacher surveys and clinical interviews. Waitlists in clinics exceed 12–18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698480" cy="1005840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416052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737360" y="4069080"/>
            <a:ext cx="941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Symptom Masking &amp; Gender Inequity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737360" y="4434840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Girls and high-IQ children frequently mask hyperactivity, manifesting predominantly inattention and facing systematic under-diagnosis.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1520" y="5074920"/>
            <a:ext cx="10698480" cy="1005840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530352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737360" y="5212080"/>
            <a:ext cx="941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Consortium Site Confounders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737360" y="5577840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Multi-center datasets often feature massive prevalence imbalances (0% to 58%), causing naive algorithms to learn site identity rather than pathology.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CONTRIBUTION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Exactly I Built &amp; Delivered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228600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645920"/>
            <a:ext cx="5212080" cy="1325880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7830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Harmonization Pipeline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214884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Ingested 10 clinical sites, cleaned 101 duplicate records, normalized two disparate rating scales to [0,1], and addressed sentinel missing values.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645920"/>
            <a:ext cx="5212080" cy="1325880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7830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Comprehensive Statistical Audit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92240" y="214884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Cohen's d effect sizes, Welch's t-tests, Chi-square tests, and multicollinearity VIFs across demographic and cognitive markers.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154680"/>
            <a:ext cx="5212080" cy="1325880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2918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13-Model Machine Learning Zoo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05840" y="365760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Benchmarked 13 algorithms with 5-fold CV, tuned hyper-parameters, designed soft voting and stacking ensembles, and optimized decision thresholds.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3154680"/>
            <a:ext cx="5212080" cy="1325880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32918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Fairness &amp; Confounder Auditing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92240" y="365760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Conducted Leave-One-Site-Out (LOSO) checks, quantified site confounder AUC (0.70), and identified an ethical gender sensitivity gap (75% vs 25%).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4663440"/>
            <a:ext cx="5212080" cy="1325880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48006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 Explainability &amp; Artifact Hunt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005840" y="516636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Uncovered a hidden data-entry artifact in NYU handedness data using SHAP force plots, resolving a spurious clinical finding.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17920" y="4663440"/>
            <a:ext cx="5212080" cy="1325880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48006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Connectomics &amp; Web Deployment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492240" y="516636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Parcellated 40 rs-fMRI brain scans with Nilearn (MSDL &amp; BASC), ran 500 permutation tests, and built an interactive 3D WebGL web app.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ETL PIPELINE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Multi-Center Clinical Data Harmonization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228600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Actions Performed: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28600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Ingested 10 clinical centers from the ADHD-200 S3 bucket.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Identified and excised 101 duplicate participant records.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Handled missing codes (-999, N/A) properly into NaN values.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Harmonized rating scales: mapped Conners' (40–100) and ADHD-RS IV (18–72) to uniform [0, 1] severity scale.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Unified handedness codings into true dominant hand.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Quarantined Brown University (n=26) for zero-shot testing.</a:t>
            </a:r>
            <a:endParaRPr lang="en-US" sz="1400" dirty="0"/>
          </a:p>
        </p:txBody>
      </p:sp>
      <p:pic>
        <p:nvPicPr>
          <p:cNvPr id="8" name="Image 0" descr="C:\Users\hariv\OneDrive\Desktop\NeuroADHD\website\assets\img\01_raw_column_cove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45920"/>
            <a:ext cx="5303520" cy="4389120"/>
          </a:xfrm>
          <a:prstGeom prst="ellipse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EXPLORATORY ANALYSIS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Statistical Findings &amp; Cohen's d Effect Sizes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228600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Statistical Insights (n = 935):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28600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Sex Disparity: Boys diagnosed 2.2x more than girls (49% vs 22%).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Cognitive Differences: WISC IQ scores were lower in ADHD but with massive overlap (Cohen's d = -0.47 to -0.56).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Dominance of Parent Ratings: ADHD-RS symptom scores show colossal separation (Cohen's d = 2.87, p &lt; 1e-100).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Site Asymmetry: Prevalence ranged from 0% (WashU) to 58% (NYU), proving clinic identity is a major confounder.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PCA / t-SNE: Showed no distinct cluster separation without symptoms.</a:t>
            </a:r>
            <a:endParaRPr lang="en-US" sz="1400" dirty="0"/>
          </a:p>
        </p:txBody>
      </p:sp>
      <p:pic>
        <p:nvPicPr>
          <p:cNvPr id="8" name="Image 0" descr="C:\Users\hariv\OneDrive\Desktop\NeuroADHD\website\assets\img\02_effect_siz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45920"/>
            <a:ext cx="5303520" cy="4389120"/>
          </a:xfrm>
          <a:prstGeom prst="ellipse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PREPROCESSING PIPELINE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Evidence-Based Engineering &amp; Feature Selection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228600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Architecture: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28600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Stratified 80/20 Split: Locked 20% holdout (n=187 for Set A; n=98 for Set B) untouched until final evaluation.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Imputation Benchmark: Mean, Median, KNN, and Iterative gave identical AUCs; median was chosen for simplicity.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Class Imbalance Mitigation: Class-weighted loss raised minority catch rate (sensitivity) from 49% to 67%.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Non-Linear Features: Engineered Verbal-Performance IQ Discrepancy and quadratic Age curve (Age - 12)^2.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Consensus Feature Selection: RFECV and L1 Lasso confirmed parent symptom ratings outrank all other features.</a:t>
            </a:r>
            <a:endParaRPr lang="en-US" sz="1400" dirty="0"/>
          </a:p>
        </p:txBody>
      </p:sp>
      <p:pic>
        <p:nvPicPr>
          <p:cNvPr id="8" name="Image 0" descr="C:\Users\hariv\OneDrive\Desktop\NeuroADHD\website\assets\img\03_imbalance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45920"/>
            <a:ext cx="5303520" cy="4389120"/>
          </a:xfrm>
          <a:prstGeom prst="ellipse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4: MODEL ZOO EVALUATION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Benchmarking 13 Machine Learning Architectures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228600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Rigorous 5-Fold Cross Validation: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28600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13 Architectures Evaluated: Logistic Regression, LDA, Gaussian NB, KNN, Random Forest, Extra Trees, GBDT, XGBoost, LightGBM, AdaBoost, RBF SVM, Voting, and Stacking.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Hyperparameter Tuning: Optimized using RandomizedSearchCV with 50 iterations.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Youden Thresholding: Adjusted classification cutoffs to maximize Sensitivity + Specificity.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Dual Paradigm Evaluated: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Set A: Demographics &amp; IQ only (Top: Random Forest)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Set B: Augmented with Parent Ratings (Top: Logistic Reg)</a:t>
            </a:r>
            <a:endParaRPr lang="en-US" sz="1400" dirty="0"/>
          </a:p>
        </p:txBody>
      </p:sp>
      <p:pic>
        <p:nvPicPr>
          <p:cNvPr id="8" name="Image 0" descr="C:\Users\hariv\OneDrive\Desktop\NeuroADHD\website\assets\img\04_model_comparison_c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45920"/>
            <a:ext cx="5303520" cy="4389120"/>
          </a:xfrm>
          <a:prstGeom prst="ellipse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5: TEST SET GENERALIZATION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Evaluation on Locked Holdout (1,000 Bootstraps)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228600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2151F"/>
          </a:solidFill>
          <a:ln w="25400">
            <a:solidFill>
              <a:srgbClr val="38BD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A: Demographics &amp; IQ Only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1945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Forest (Tuned)  ✦  n = 187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46888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0.730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005840" y="32918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ROC-AUC  (95% CI: 0.655 – 0.800)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3657600"/>
            <a:ext cx="45720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Accuracy: 64.7%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Balanced Accuracy: 64.6%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Sensitivity (Catch Rate): 63.9%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Specificity (Clear Rate): 65.2%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Precision / PPV: 53.5%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Takeaway: Cognitive &amp; demographic features establish an upper ceiling of ~0.73 AUC.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2151F"/>
          </a:solidFill>
          <a:ln w="25400">
            <a:solidFill>
              <a:srgbClr val="F973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828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B: With Parent Symptom Ratings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92240" y="21945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 Regression (Tuned)  ✦  n = 98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92240" y="246888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0.955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6492240" y="32918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ROC-AUC  (95% CI: 0.906 – 0.988)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92240" y="3657600"/>
            <a:ext cx="45720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Accuracy: 88.8%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Balanced Accuracy: 88.7%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Sensitivity (Catch Rate): 94.0%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Specificity (Clear Rate): 83.3%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Precision / PPV: 85.5%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Takeaway: Symptom questionnaires almost determine the diagnostic label (automated screening).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9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6: ALGORITHMIC FAIRNESS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Uncovering Severe Gender Disparities in Set 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228600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Gender Sensitivity Gap: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28600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 Set A (Demographics only):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Sensitivity for Boys: 75.0% (Caught 42 of 56)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Sensitivity for Girls: 25.0% (Missed 12 of 16!)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Why? The algorithm learned that 'male' is a strong statistical clue, mirroring historical referral bias.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Result: Girls with high IQ or subtle inattention were systematically misclassified as typically developing.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Resolution in Set B: Adding parent symptom questionnaires lifted female sensitivity to 100.0%!</a:t>
            </a:r>
            <a:endParaRPr lang="en-US" sz="1400" dirty="0"/>
          </a:p>
        </p:txBody>
      </p:sp>
      <p:pic>
        <p:nvPicPr>
          <p:cNvPr id="8" name="Image 0" descr="C:\Users\hariv\OneDrive\Desktop\NeuroADHD\website\assets\img\04_confusion_matri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45920"/>
            <a:ext cx="5303520" cy="4389120"/>
          </a:xfrm>
          <a:prstGeom prst="ellipse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9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7: CONFOUNDER AUDITING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 Confounder Discovery &amp; Leave-One-Site-Out (LOSO)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228600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Confounder Findings: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28600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Site Shortcut: A model given ONLY the clinic ID reaches 0.70 AUC due to sample selection bias.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Strict Exclusion: Site ID was deliberately excluded from features to prevent learning center-specific shortcuts.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Leave-One-Site-Out (LOSO) Validation: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Iteratively trained on N-1 clinics, tested on the Nth clinic.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Performance swings from 0.56 AUC (KKI) to 0.86 AUC (Peking).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Proves models cannot be deployed blindly across clinics without local re-calibration.</a:t>
            </a:r>
            <a:endParaRPr lang="en-US" sz="1400" dirty="0"/>
          </a:p>
        </p:txBody>
      </p:sp>
      <p:pic>
        <p:nvPicPr>
          <p:cNvPr id="8" name="Image 0" descr="C:\Users\hariv\OneDrive\Desktop\NeuroADHD\website\assets\img\04_leave_one_site_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45920"/>
            <a:ext cx="5303520" cy="4389120"/>
          </a:xfrm>
          <a:prstGeom prst="ellipse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9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8: MODEL EXPLAINABILITY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 Feature Attributions &amp; The NYU Handedness Artifact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228600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NYU Handedness Mystery: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28600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SHAP Beeswarm Discovery: During initial runs, Handedness ranked as the 2nd most important feature in Set A.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Clinical Investigation: Left-handedness had no biological rationale for driving ADHD predictions.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Root Cause: NYU (58% ADHD prevalence) recorded handedness as continuous Edinburgh scores; others used binary tags.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Fix: Re-harmonized all sites to true dominant hand -&gt; Handedness attribution collapsed to zero!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Value: Proved that explainable AI is vital to catch hidden data-collection artifacts.</a:t>
            </a:r>
            <a:endParaRPr lang="en-US" sz="1400" dirty="0"/>
          </a:p>
        </p:txBody>
      </p:sp>
      <p:pic>
        <p:nvPicPr>
          <p:cNvPr id="8" name="Image 0" descr="C:\Users\hariv\OneDrive\Desktop\NeuroADHD\website\assets\img\05_shap_beeswarm_Se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45920"/>
            <a:ext cx="5303520" cy="4389120"/>
          </a:xfrm>
          <a:prstGeom prst="ellipse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9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9: NEUROIMAGING ANALYSIS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Resting-State fMRI Brain Connectomes via Nilearn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228600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28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Connectome Pipeline (n = 40):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28600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Brain Atlases: MSDL (39 functional regions) &amp; BASC-64 (64 anatomical regions).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Connectivity Types: Correlation, Partial Correlation, and Riemannian Tangent Space.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42 Configurations Tested across 7 classifiers.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Best Model: PCA + RBF SVM on MSDL correlation matrix reached Accuracy: 56.2%, ROC-AUC: 0.63.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500-Iteration Label Permutation Test: p = 0.11 (Null mean = 51.2%).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Scientific Takeaway: With n=40, rs-fMRI connectomes do NOT significantly beat random guessing.</a:t>
            </a:r>
            <a:endParaRPr lang="en-US" sz="1400" dirty="0"/>
          </a:p>
        </p:txBody>
      </p:sp>
      <p:pic>
        <p:nvPicPr>
          <p:cNvPr id="8" name="Image 0" descr="C:\Users\hariv\OneDrive\Desktop\NeuroADHD\website\assets\img\06_connect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45920"/>
            <a:ext cx="5303520" cy="4389120"/>
          </a:xfrm>
          <a:prstGeom prst="ellipse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9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10: PRODUCTION 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3D Web Application &amp; Client-Side Inference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228600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645920"/>
            <a:ext cx="10698480" cy="804672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75564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Neural Connectome (Three.js)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20574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WebGL canvas with 48 cortical hubs, axonal tracts, and pulsing synaptic BOLD signals that follow cursor movement.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2560320"/>
            <a:ext cx="10698480" cy="804672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67004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Multi-Metric Algorithm Explorer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05840" y="29718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Chart.js dashboard allowing real-time switching between ROC-AUC, Balanced Accuracy, F1-Score, Sensitivity, and Precision.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31520" y="3474720"/>
            <a:ext cx="10698480" cy="804672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58444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In-Browser Clinical Predictor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05840" y="3886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logistic regression inference directly in the client browser. Features 5 clinical presets (Control, Combined, Inattentive, High-IQ, Reset).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31520" y="4389120"/>
            <a:ext cx="10698480" cy="804672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449884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SHAP Waterfall Bars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05840" y="48006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log-odds attribution waterfall showing exact feature contributions pushing toward ADHD (orange) or typically developing (cyan).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31520" y="5303520"/>
            <a:ext cx="10698480" cy="804672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541324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Backend Infrastructure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005840" y="57150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Packaged as a static web bundle deployed seamlessly to GitHub Pages with 100% client-side execution.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9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Scientific Insights &amp;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228600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645920"/>
            <a:ext cx="10698480" cy="804672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78308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1755648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Phenotypic Limit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45920" y="2057400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Demographic and cognitive scores establish an upper diagnostic bound of 0.73 AUC. They cannot serve as standalone biomarkers.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31520" y="2560320"/>
            <a:ext cx="10698480" cy="804672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69748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45920" y="2670048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Screening Utility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645920" y="2971800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Standardized parent symptom surveys achieve 0.96 AUC with 94% sensitivity, serving as automated screening rather than an etiological test.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10698480" cy="804672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61188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645920" y="3584448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Gender Fairness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645920" y="3886200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Demographic-only models discriminate against girls (25% catch rate). Incorporating symptom surveys fully restores sensitivity to 100%.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31520" y="4389120"/>
            <a:ext cx="10698480" cy="804672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452628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645920" y="4498848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Explainability is Essential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645920" y="4800600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 was critical to catch the NYU handedness recording artifact, proving that black-box medical ML is unsafe without attribution.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31520" y="5303520"/>
            <a:ext cx="10698480" cy="804672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544068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645920" y="5413248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fMRI Sample Size Challenge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645920" y="5715000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rs-fMRI connectomics in small cohorts (n=40) fail to beat chance (p=0.11), demonstrating that large cohorts (n&gt;2,000) are required.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9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731520" y="24688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Open Discussion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011680" y="3291840"/>
            <a:ext cx="8138160" cy="2560320"/>
          </a:xfrm>
          <a:prstGeom prst="roundRect">
            <a:avLst/>
          </a:prstGeom>
          <a:solidFill>
            <a:srgbClr val="12151F"/>
          </a:solidFill>
          <a:ln w="12700">
            <a:solidFill>
              <a:srgbClr val="2329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0" y="35661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Resources &amp; Live Deployment: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286000" y="406908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Live Web Application: https://harivaishnavi28192.github.io/NeuroADHD/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286000" y="452628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💻 GitHub Repository: https://github.com/Harivaishnavi28192/NeuroADHD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286000" y="502920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👤 Presenter: Harivaishnavi  |  Karunya Institute of Technology and Sciences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Karunya Institute of Technology and Sciences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NeuroADHD: Predictive Modeling &amp; Connectomics</dc:title>
  <dc:subject>PptxGenJS Presentation</dc:subject>
  <dc:creator>Harivaishnavi</dc:creator>
  <cp:lastModifiedBy>Harivaishnavi</cp:lastModifiedBy>
  <cp:revision>1</cp:revision>
  <dcterms:created xsi:type="dcterms:W3CDTF">2026-10-26T10:58:48Z</dcterms:created>
  <dcterms:modified xsi:type="dcterms:W3CDTF">2026-10-26T10:58:48Z</dcterms:modified>
</cp:coreProperties>
</file>